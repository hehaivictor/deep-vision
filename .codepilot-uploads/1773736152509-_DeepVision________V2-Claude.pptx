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92" r:id="rId3"/>
    <p:sldId id="6542" r:id="rId4"/>
    <p:sldId id="6523" r:id="rId5"/>
    <p:sldId id="6544" r:id="rId6"/>
    <p:sldId id="6502" r:id="rId7"/>
    <p:sldId id="6546" r:id="rId8"/>
    <p:sldId id="5945" r:id="rId9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oq" initials="l" lastIdx="0" clrIdx="0"/>
  <p:cmAuthor id="2" name="huan gong" initials="" lastIdx="0" clrIdx="1"/>
  <p:cmAuthor id="3" name="少平 陈" initials="少平" lastIdx="0" clrIdx="2"/>
  <p:cmAuthor id="4" name="钟 万" initials="钟" lastIdx="0" clrIdx="3"/>
  <p:cmAuthor id="5" name="作者" initials="A" lastIdx="0" clrIdx="4"/>
  <p:cmAuthor id="6" name="LH" initials="C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396BB0"/>
    <a:srgbClr val="404040"/>
    <a:srgbClr val="7F7F7F"/>
    <a:srgbClr val="F4B183"/>
    <a:srgbClr val="5B9BD5"/>
    <a:srgbClr val="E3EAF4"/>
    <a:srgbClr val="E6E6E6"/>
    <a:srgbClr val="FF9933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82" autoAdjust="0"/>
    <p:restoredTop sz="96387" autoAdjust="0"/>
  </p:normalViewPr>
  <p:slideViewPr>
    <p:cSldViewPr snapToGrid="0">
      <p:cViewPr varScale="1">
        <p:scale>
          <a:sx n="99" d="100"/>
          <a:sy n="99" d="100"/>
        </p:scale>
        <p:origin x="66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21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C827FF-8C5B-4DB1-B933-CF179931E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DAA647-046B-40C4-B9AB-452E529B251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E:\设计\VI升级\PPT模板_画板 1 副本 20.jpgPPT模板_画板 1 副本 20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66165" y="1769806"/>
            <a:ext cx="9144000" cy="1326221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066165" y="3314573"/>
            <a:ext cx="9144000" cy="792000"/>
          </a:xfrm>
        </p:spPr>
        <p:txBody>
          <a:bodyPr/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  <a:endParaRPr lang="zh-CN" altLang="en-US" dirty="0"/>
          </a:p>
        </p:txBody>
      </p:sp>
      <p:sp>
        <p:nvSpPr>
          <p:cNvPr id="10" name="文本框 9"/>
          <p:cNvSpPr txBox="1"/>
          <p:nvPr userDrawn="1"/>
        </p:nvSpPr>
        <p:spPr>
          <a:xfrm>
            <a:off x="563245" y="5939790"/>
            <a:ext cx="4402455" cy="702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70000"/>
              </a:lnSpc>
            </a:pPr>
            <a:r>
              <a:rPr lang="zh-CN" altLang="en-US" sz="1400" b="1" baseline="0" dirty="0">
                <a:solidFill>
                  <a:srgbClr val="084595"/>
                </a:solidFill>
                <a:sym typeface="+mn-ea"/>
              </a:rPr>
              <a:t>武汉开目信息技术股份有限公司</a:t>
            </a:r>
            <a:endParaRPr lang="zh-CN" altLang="en-US" sz="1400" b="1" baseline="0" dirty="0">
              <a:solidFill>
                <a:srgbClr val="084595"/>
              </a:solidFill>
              <a:sym typeface="+mn-ea"/>
            </a:endParaRPr>
          </a:p>
          <a:p>
            <a:pPr algn="l">
              <a:lnSpc>
                <a:spcPct val="70000"/>
              </a:lnSpc>
            </a:pPr>
            <a:endParaRPr lang="zh-CN" altLang="en-US" sz="1200" b="1" baseline="0" dirty="0">
              <a:solidFill>
                <a:srgbClr val="084595"/>
              </a:solidFill>
              <a:sym typeface="+mn-ea"/>
            </a:endParaRPr>
          </a:p>
          <a:p>
            <a:pPr algn="dist">
              <a:lnSpc>
                <a:spcPct val="80000"/>
              </a:lnSpc>
            </a:pPr>
            <a:r>
              <a:rPr lang="zh-CN" altLang="en-US" sz="1200" baseline="0" dirty="0">
                <a:solidFill>
                  <a:srgbClr val="084595"/>
                </a:solidFill>
              </a:rPr>
              <a:t>Wuhan K</a:t>
            </a:r>
            <a:r>
              <a:rPr lang="en-US" altLang="zh-CN" sz="1200" baseline="0" dirty="0">
                <a:solidFill>
                  <a:srgbClr val="084595"/>
                </a:solidFill>
              </a:rPr>
              <a:t>M</a:t>
            </a:r>
            <a:r>
              <a:rPr lang="zh-CN" altLang="en-US" sz="1200" baseline="0" dirty="0">
                <a:solidFill>
                  <a:srgbClr val="084595"/>
                </a:solidFill>
              </a:rPr>
              <a:t> Information Technology Co., Ltd</a:t>
            </a:r>
            <a:endParaRPr lang="zh-CN" altLang="en-US" sz="1200" baseline="0" dirty="0">
              <a:solidFill>
                <a:srgbClr val="084595"/>
              </a:solidFill>
            </a:endParaRPr>
          </a:p>
          <a:p>
            <a:pPr algn="l"/>
            <a:endParaRPr lang="zh-CN" altLang="en-US" sz="1200" baseline="0" dirty="0">
              <a:solidFill>
                <a:srgbClr val="084595"/>
              </a:solidFill>
            </a:endParaRPr>
          </a:p>
        </p:txBody>
      </p:sp>
      <p:pic>
        <p:nvPicPr>
          <p:cNvPr id="11" name="图片 10" descr="新LOGO_画板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32035" y="5764530"/>
            <a:ext cx="2084705" cy="803275"/>
          </a:xfrm>
          <a:prstGeom prst="rect">
            <a:avLst/>
          </a:prstGeom>
        </p:spPr>
      </p:pic>
      <p:grpSp>
        <p:nvGrpSpPr>
          <p:cNvPr id="12" name="组合 11"/>
          <p:cNvGrpSpPr/>
          <p:nvPr userDrawn="1"/>
        </p:nvGrpSpPr>
        <p:grpSpPr>
          <a:xfrm>
            <a:off x="5235575" y="6240780"/>
            <a:ext cx="4458335" cy="106680"/>
            <a:chOff x="6899" y="9815"/>
            <a:chExt cx="6631" cy="148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899" y="9953"/>
              <a:ext cx="6631" cy="0"/>
            </a:xfrm>
            <a:prstGeom prst="line">
              <a:avLst/>
            </a:prstGeom>
            <a:ln w="12700" cmpd="sng">
              <a:solidFill>
                <a:srgbClr val="0141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13358" y="9815"/>
              <a:ext cx="172" cy="148"/>
            </a:xfrm>
            <a:prstGeom prst="line">
              <a:avLst/>
            </a:prstGeom>
            <a:ln w="12700">
              <a:solidFill>
                <a:srgbClr val="0141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文本框 9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9461500" y="428625"/>
            <a:ext cx="251936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dist"/>
            <a:r>
              <a:rPr lang="en-US" altLang="zh-CN" sz="1000" dirty="0">
                <a:solidFill>
                  <a:schemeClr val="bg1"/>
                </a:solidFill>
              </a:rPr>
              <a:t>/</a:t>
            </a:r>
            <a:r>
              <a:rPr lang="zh-CN" altLang="en-US" sz="1000" dirty="0">
                <a:solidFill>
                  <a:schemeClr val="bg1"/>
                </a:solidFill>
              </a:rPr>
              <a:t>软件创新制造</a:t>
            </a:r>
            <a:r>
              <a:rPr lang="en-US" altLang="zh-CN" sz="1000" dirty="0">
                <a:solidFill>
                  <a:schemeClr val="bg1"/>
                </a:solidFill>
              </a:rPr>
              <a:t>/</a:t>
            </a:r>
            <a:endParaRPr lang="en-US" altLang="zh-CN" sz="1000" dirty="0">
              <a:solidFill>
                <a:schemeClr val="bg1"/>
              </a:solidFill>
            </a:endParaRPr>
          </a:p>
        </p:txBody>
      </p:sp>
      <p:sp>
        <p:nvSpPr>
          <p:cNvPr id="18" name="文本框 11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9142413" y="698500"/>
            <a:ext cx="2874962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000">
                <a:solidFill>
                  <a:schemeClr val="bg1"/>
                </a:solidFill>
              </a:rPr>
              <a:t>Software Drives</a:t>
            </a:r>
            <a:r>
              <a:rPr lang="en-US" altLang="zh-CN" sz="1000">
                <a:solidFill>
                  <a:schemeClr val="bg1"/>
                </a:solidFill>
              </a:rPr>
              <a:t>  </a:t>
            </a:r>
            <a:r>
              <a:rPr lang="zh-CN" altLang="en-US" sz="1000">
                <a:solidFill>
                  <a:schemeClr val="bg1"/>
                </a:solidFill>
              </a:rPr>
              <a:t>Manufacturing Innovation</a:t>
            </a:r>
            <a:endParaRPr lang="zh-CN" altLang="en-US" sz="100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255815" y="927843"/>
            <a:ext cx="11682000" cy="5472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E:\设计\VI升级\PPT模板_画板 1 副本 20.jpgPPT模板_画板 1 副本 20"/>
          <p:cNvPicPr>
            <a:picLocks noChangeAspect="1"/>
          </p:cNvPicPr>
          <p:nvPr userDrawn="1"/>
        </p:nvPicPr>
        <p:blipFill>
          <a:blip r:embed="rId2"/>
          <a:srcRect t="5556"/>
          <a:stretch>
            <a:fillRect/>
          </a:stretch>
        </p:blipFill>
        <p:spPr>
          <a:xfrm>
            <a:off x="0" y="0"/>
            <a:ext cx="12192000" cy="6477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6282813"/>
            <a:ext cx="12192000" cy="5751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 userDrawn="1"/>
        </p:nvSpPr>
        <p:spPr>
          <a:xfrm>
            <a:off x="1164908" y="5514975"/>
            <a:ext cx="3930650" cy="866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1200" dirty="0">
                <a:solidFill>
                  <a:srgbClr val="084595"/>
                </a:solidFill>
              </a:rPr>
              <a:t>电话：400-886-0255</a:t>
            </a:r>
            <a:endParaRPr lang="zh-CN" altLang="en-US" sz="1200" dirty="0">
              <a:solidFill>
                <a:srgbClr val="084595"/>
              </a:solidFill>
            </a:endParaRPr>
          </a:p>
          <a:p>
            <a:pPr algn="l">
              <a:lnSpc>
                <a:spcPct val="140000"/>
              </a:lnSpc>
            </a:pPr>
            <a:r>
              <a:rPr lang="zh-CN" altLang="en-US" sz="1200" dirty="0">
                <a:solidFill>
                  <a:srgbClr val="084595"/>
                </a:solidFill>
              </a:rPr>
              <a:t>网址：www.kmsoft.com.cn</a:t>
            </a:r>
            <a:endParaRPr lang="zh-CN" altLang="en-US" sz="1200" dirty="0">
              <a:solidFill>
                <a:srgbClr val="084595"/>
              </a:solidFill>
            </a:endParaRPr>
          </a:p>
          <a:p>
            <a:pPr algn="l">
              <a:lnSpc>
                <a:spcPct val="140000"/>
              </a:lnSpc>
            </a:pPr>
            <a:r>
              <a:rPr lang="zh-CN" altLang="en-US" sz="1200" dirty="0">
                <a:solidFill>
                  <a:srgbClr val="084595"/>
                </a:solidFill>
              </a:rPr>
              <a:t>地址：武汉市东湖新技术开发区软件新城</a:t>
            </a:r>
            <a:r>
              <a:rPr lang="en-US" altLang="zh-CN" sz="1200" dirty="0">
                <a:solidFill>
                  <a:srgbClr val="084595"/>
                </a:solidFill>
              </a:rPr>
              <a:t>D7</a:t>
            </a:r>
            <a:r>
              <a:rPr lang="zh-CN" altLang="en-US" sz="1200" dirty="0">
                <a:solidFill>
                  <a:srgbClr val="084595"/>
                </a:solidFill>
              </a:rPr>
              <a:t>栋</a:t>
            </a:r>
            <a:endParaRPr lang="zh-CN" altLang="en-US" sz="1200" dirty="0">
              <a:solidFill>
                <a:srgbClr val="084595"/>
              </a:solidFill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1217613" y="2882900"/>
            <a:ext cx="42284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4000" b="1" dirty="0">
                <a:solidFill>
                  <a:schemeClr val="bg1"/>
                </a:solidFill>
              </a:rPr>
              <a:t>Thank You </a:t>
            </a:r>
            <a:r>
              <a:rPr lang="zh-CN" altLang="en-US" sz="4000" b="1" dirty="0">
                <a:solidFill>
                  <a:schemeClr val="bg1"/>
                </a:solidFill>
              </a:rPr>
              <a:t>！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pic>
        <p:nvPicPr>
          <p:cNvPr id="7" name="图片 6" descr="开目二维码_画板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7795" y="5356860"/>
            <a:ext cx="1003300" cy="1001395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10143490" y="6358255"/>
            <a:ext cx="13125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40000"/>
              </a:lnSpc>
            </a:pPr>
            <a:r>
              <a:rPr lang="zh-CN" altLang="en-US" sz="1000">
                <a:solidFill>
                  <a:srgbClr val="084595"/>
                </a:solidFill>
              </a:rPr>
              <a:t>官方微信公众号</a:t>
            </a:r>
            <a:endParaRPr lang="zh-CN" altLang="en-US" sz="1000">
              <a:solidFill>
                <a:srgbClr val="084595"/>
              </a:solidFill>
            </a:endParaRPr>
          </a:p>
        </p:txBody>
      </p:sp>
      <p:pic>
        <p:nvPicPr>
          <p:cNvPr id="9" name="图片 8" descr="新LOGO b_画板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5475" y="304165"/>
            <a:ext cx="1679575" cy="647065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1217930" y="1920240"/>
            <a:ext cx="6294120" cy="7550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3000" b="1" dirty="0">
                <a:solidFill>
                  <a:schemeClr val="bg1"/>
                </a:solidFill>
              </a:rPr>
              <a:t>中国自主可控高端工业软件领导品牌</a:t>
            </a:r>
            <a:endParaRPr lang="zh-CN" altLang="en-US" sz="3000" b="1" dirty="0">
              <a:solidFill>
                <a:schemeClr val="bg1"/>
              </a:solidFill>
            </a:endParaRPr>
          </a:p>
        </p:txBody>
      </p:sp>
      <p:sp>
        <p:nvSpPr>
          <p:cNvPr id="15" name="文本框 9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9461500" y="428625"/>
            <a:ext cx="251936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dist"/>
            <a:r>
              <a:rPr lang="en-US" altLang="zh-CN" sz="1000" dirty="0">
                <a:solidFill>
                  <a:schemeClr val="bg1"/>
                </a:solidFill>
              </a:rPr>
              <a:t>/</a:t>
            </a:r>
            <a:r>
              <a:rPr lang="zh-CN" altLang="en-US" sz="1000" dirty="0">
                <a:solidFill>
                  <a:schemeClr val="bg1"/>
                </a:solidFill>
              </a:rPr>
              <a:t>软件创新制造</a:t>
            </a:r>
            <a:r>
              <a:rPr lang="en-US" altLang="zh-CN" sz="1000" dirty="0">
                <a:solidFill>
                  <a:schemeClr val="bg1"/>
                </a:solidFill>
              </a:rPr>
              <a:t>/</a:t>
            </a:r>
            <a:endParaRPr lang="en-US" altLang="zh-CN" sz="1000" dirty="0">
              <a:solidFill>
                <a:schemeClr val="bg1"/>
              </a:solidFill>
            </a:endParaRPr>
          </a:p>
        </p:txBody>
      </p:sp>
      <p:sp>
        <p:nvSpPr>
          <p:cNvPr id="16" name="文本框 1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9142413" y="698500"/>
            <a:ext cx="2874962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000">
                <a:solidFill>
                  <a:schemeClr val="bg1"/>
                </a:solidFill>
              </a:rPr>
              <a:t>Software Drives</a:t>
            </a:r>
            <a:r>
              <a:rPr lang="en-US" altLang="zh-CN" sz="1000">
                <a:solidFill>
                  <a:schemeClr val="bg1"/>
                </a:solidFill>
              </a:rPr>
              <a:t>  </a:t>
            </a:r>
            <a:r>
              <a:rPr lang="zh-CN" altLang="en-US" sz="1000">
                <a:solidFill>
                  <a:schemeClr val="bg1"/>
                </a:solidFill>
              </a:rPr>
              <a:t>Manufacturing Innovation</a:t>
            </a:r>
            <a:endParaRPr lang="zh-CN" altLang="en-US" sz="100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2" name="组合 10"/>
          <p:cNvGrpSpPr/>
          <p:nvPr userDrawn="1"/>
        </p:nvGrpSpPr>
        <p:grpSpPr>
          <a:xfrm>
            <a:off x="66675" y="349250"/>
            <a:ext cx="544513" cy="430213"/>
            <a:chOff x="105" y="751"/>
            <a:chExt cx="858" cy="678"/>
          </a:xfrm>
        </p:grpSpPr>
        <p:sp>
          <p:nvSpPr>
            <p:cNvPr id="10" name="矩形 9"/>
            <p:cNvSpPr/>
            <p:nvPr userDrawn="1">
              <p:custDataLst>
                <p:tags r:id="rId2"/>
              </p:custDataLst>
            </p:nvPr>
          </p:nvSpPr>
          <p:spPr>
            <a:xfrm>
              <a:off x="223" y="751"/>
              <a:ext cx="741" cy="679"/>
            </a:xfrm>
            <a:prstGeom prst="rect">
              <a:avLst/>
            </a:prstGeom>
            <a:solidFill>
              <a:srgbClr val="FFC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8" name="矩形 7"/>
            <p:cNvSpPr/>
            <p:nvPr userDrawn="1">
              <p:custDataLst>
                <p:tags r:id="rId3"/>
              </p:custDataLst>
            </p:nvPr>
          </p:nvSpPr>
          <p:spPr>
            <a:xfrm>
              <a:off x="105" y="751"/>
              <a:ext cx="741" cy="679"/>
            </a:xfrm>
            <a:prstGeom prst="rect">
              <a:avLst/>
            </a:prstGeom>
            <a:solidFill>
              <a:srgbClr val="0845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</p:grp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814705" y="212090"/>
            <a:ext cx="9449435" cy="70548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 sz="3200">
                <a:solidFill>
                  <a:srgbClr val="084595"/>
                </a:solidFill>
              </a:defRPr>
            </a:lvl1pPr>
          </a:lstStyle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814705" y="1149350"/>
            <a:ext cx="5176520" cy="510032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0" indent="0">
              <a:buClr>
                <a:srgbClr val="014199"/>
              </a:buClr>
              <a:buSzPct val="95000"/>
              <a:buFont typeface="Wingdings" panose="05000000000000000000" charset="0"/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buClr>
                <a:srgbClr val="014199"/>
              </a:buClr>
              <a:buSzPct val="95000"/>
              <a:buFont typeface="Wingdings" panose="05000000000000000000" pitchFamily="2" charset="2"/>
              <a:buChar char="l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200150" indent="-285750">
              <a:buClr>
                <a:srgbClr val="014199"/>
              </a:buClr>
              <a:buSzPct val="95000"/>
              <a:buFont typeface="Wingdings" panose="05000000000000000000" pitchFamily="2" charset="2"/>
              <a:buChar char="n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Clr>
                <a:srgbClr val="014199"/>
              </a:buClr>
              <a:buSzPct val="95000"/>
              <a:buFont typeface="Wingdings" panose="05000000000000000000" charset="0"/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Clr>
                <a:srgbClr val="014199"/>
              </a:buClr>
              <a:buSzPct val="95000"/>
              <a:buFont typeface="Wingdings" panose="05000000000000000000" charset="0"/>
              <a:buChar char="l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一级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</p:txBody>
      </p:sp>
      <p:sp>
        <p:nvSpPr>
          <p:cNvPr id="14" name="内容占位符 10"/>
          <p:cNvSpPr>
            <a:spLocks noGrp="1"/>
          </p:cNvSpPr>
          <p:nvPr>
            <p:ph sz="half" idx="13"/>
          </p:nvPr>
        </p:nvSpPr>
        <p:spPr>
          <a:xfrm>
            <a:off x="6278880" y="1149350"/>
            <a:ext cx="5176520" cy="510032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0" indent="0">
              <a:buClr>
                <a:srgbClr val="014199"/>
              </a:buClr>
              <a:buSzPct val="95000"/>
              <a:buFont typeface="Wingdings" panose="05000000000000000000" charset="0"/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buClr>
                <a:srgbClr val="014199"/>
              </a:buClr>
              <a:buSzPct val="95000"/>
              <a:buFont typeface="Wingdings" panose="05000000000000000000" pitchFamily="2" charset="2"/>
              <a:buChar char="l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buClr>
                <a:srgbClr val="014199"/>
              </a:buClr>
              <a:buSzPct val="95000"/>
              <a:buFont typeface="Wingdings" panose="05000000000000000000" pitchFamily="2" charset="2"/>
              <a:buChar char="n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Clr>
                <a:srgbClr val="014199"/>
              </a:buClr>
              <a:buSzPct val="95000"/>
              <a:buFont typeface="Wingdings" panose="05000000000000000000" charset="0"/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Clr>
                <a:srgbClr val="014199"/>
              </a:buClr>
              <a:buSzPct val="95000"/>
              <a:buFont typeface="Wingdings" panose="05000000000000000000" charset="0"/>
              <a:buChar char="l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一级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4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3429000" cy="548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87" hasCustomPrompt="1"/>
            <p:custDataLst>
              <p:tags r:id="rId3"/>
            </p:custDataLst>
          </p:nvPr>
        </p:nvSpPr>
        <p:spPr>
          <a:xfrm>
            <a:off x="4648200" y="609600"/>
            <a:ext cx="6934200" cy="5638800"/>
          </a:xfrm>
          <a:custGeom>
            <a:avLst/>
            <a:gdLst>
              <a:gd name="connisteX0" fmla="*/ 0 w 6934200"/>
              <a:gd name="connsiteY0" fmla="*/ 203200 h 5638800"/>
              <a:gd name="connisteX1" fmla="*/ 203200 w 6934200"/>
              <a:gd name="connsiteY1" fmla="*/ 0 h 5638800"/>
              <a:gd name="connisteX2" fmla="*/ 6731000 w 6934200"/>
              <a:gd name="connsiteY2" fmla="*/ 0 h 5638800"/>
              <a:gd name="connisteX3" fmla="*/ 6934200 w 6934200"/>
              <a:gd name="connsiteY3" fmla="*/ 203200 h 5638800"/>
              <a:gd name="connisteX4" fmla="*/ 6934200 w 6934200"/>
              <a:gd name="connsiteY4" fmla="*/ 5435600 h 5638800"/>
              <a:gd name="connisteX5" fmla="*/ 6731000 w 6934200"/>
              <a:gd name="connsiteY5" fmla="*/ 5638800 h 5638800"/>
              <a:gd name="connisteX6" fmla="*/ 203200 w 6934200"/>
              <a:gd name="connsiteY6" fmla="*/ 5638800 h 5638800"/>
              <a:gd name="connisteX7" fmla="*/ 0 w 6934200"/>
              <a:gd name="connsiteY7" fmla="*/ 5435600 h 5638800"/>
              <a:gd name="connisteX8" fmla="*/ 0 w 69342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69342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5435600"/>
                </a:lnTo>
                <a:cubicBezTo>
                  <a:pt x="6934200" y="5547824"/>
                  <a:pt x="6843224" y="5638800"/>
                  <a:pt x="67310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5054600" y="1143000"/>
            <a:ext cx="6121400" cy="4572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单击此处添加正文</a:t>
            </a:r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2_1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553200" y="1524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553200" y="20828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553200" y="31496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553200" y="37084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6553200" y="47752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6553200" y="53340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1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87070" y="144054"/>
            <a:ext cx="9144000" cy="636361"/>
          </a:xfrm>
          <a:prstGeom prst="rect">
            <a:avLst/>
          </a:prstGeom>
        </p:spPr>
        <p:txBody>
          <a:bodyPr vert="horz" lIns="252000" tIns="45720" rIns="91440" bIns="45720" rtlCol="0" anchor="b">
            <a:noAutofit/>
          </a:bodyPr>
          <a:lstStyle/>
          <a:p>
            <a:pPr marL="0" lvl="0" algn="just">
              <a:lnSpc>
                <a:spcPct val="100000"/>
              </a:lnSpc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55814" y="927843"/>
            <a:ext cx="11680371" cy="5472000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7" name="图片 6" descr="新LOGO_画板 1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447655" y="168864"/>
            <a:ext cx="1522095" cy="586740"/>
          </a:xfrm>
          <a:prstGeom prst="rect">
            <a:avLst/>
          </a:prstGeom>
        </p:spPr>
      </p:pic>
      <p:grpSp>
        <p:nvGrpSpPr>
          <p:cNvPr id="8" name="组合 7"/>
          <p:cNvGrpSpPr/>
          <p:nvPr userDrawn="1"/>
        </p:nvGrpSpPr>
        <p:grpSpPr>
          <a:xfrm>
            <a:off x="66675" y="349250"/>
            <a:ext cx="544830" cy="430530"/>
            <a:chOff x="105" y="751"/>
            <a:chExt cx="858" cy="678"/>
          </a:xfrm>
        </p:grpSpPr>
        <p:sp>
          <p:nvSpPr>
            <p:cNvPr id="12" name="矩形 11"/>
            <p:cNvSpPr/>
            <p:nvPr userDrawn="1">
              <p:custDataLst>
                <p:tags r:id="rId10"/>
              </p:custDataLst>
            </p:nvPr>
          </p:nvSpPr>
          <p:spPr>
            <a:xfrm>
              <a:off x="223" y="751"/>
              <a:ext cx="741" cy="679"/>
            </a:xfrm>
            <a:prstGeom prst="rect">
              <a:avLst/>
            </a:prstGeom>
            <a:solidFill>
              <a:srgbClr val="FFC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 userDrawn="1">
              <p:custDataLst>
                <p:tags r:id="rId11"/>
              </p:custDataLst>
            </p:nvPr>
          </p:nvSpPr>
          <p:spPr>
            <a:xfrm>
              <a:off x="105" y="751"/>
              <a:ext cx="741" cy="679"/>
            </a:xfrm>
            <a:prstGeom prst="rect">
              <a:avLst/>
            </a:prstGeom>
            <a:solidFill>
              <a:srgbClr val="0845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矩形 15"/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94B22B-EA26-413E-BE2C-257EB36D353B}" type="slidenum">
              <a:rPr lang="zh-CN" altLang="en-US" sz="1200" kern="1000" spc="0" baseline="0" smtClean="0">
                <a:solidFill>
                  <a:schemeClr val="tx1">
                    <a:lumMod val="50000"/>
                    <a:lumOff val="50000"/>
                  </a:schemeClr>
                </a:solidFill>
              </a:rPr>
            </a:fld>
            <a:endParaRPr lang="zh-CN" altLang="en-US" sz="1200" kern="1000" spc="0" baseline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 baseline="0" dirty="0">
          <a:solidFill>
            <a:schemeClr val="tx1"/>
          </a:solidFill>
          <a:latin typeface="+mn-lt"/>
          <a:ea typeface="+mn-ea"/>
          <a:cs typeface="+mj-cs"/>
        </a:defRPr>
      </a:lvl1pPr>
    </p:titleStyle>
    <p:bodyStyle>
      <a:lvl1pPr marL="363855" indent="-363855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367FC3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16280" indent="-352425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367FC3"/>
        </a:buClr>
        <a:buFont typeface="Wingdings" panose="05000000000000000000" pitchFamily="2" charset="2"/>
        <a:buChar char="Ø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079500" indent="-363855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367FC3"/>
        </a:buClr>
        <a:buFont typeface="Wingdings" panose="05000000000000000000" pitchFamily="2" charset="2"/>
        <a:buChar char="ü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930" indent="-26543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367FC3"/>
        </a:buClr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708150" indent="-276225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367FC3"/>
        </a:buClr>
        <a:buFont typeface="Arial" panose="020B0604020202090204" pitchFamily="34" charset="0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66165" y="1484630"/>
            <a:ext cx="9799955" cy="1719580"/>
          </a:xfrm>
        </p:spPr>
        <p:txBody>
          <a:bodyPr lIns="90000" tIns="45720" rIns="91440" bIns="45720">
            <a:normAutofit/>
          </a:bodyPr>
          <a:lstStyle/>
          <a:p>
            <a:pPr algn="ctr"/>
            <a:r>
              <a:rPr lang="en-US" altLang="zh-CN" sz="4000" dirty="0"/>
              <a:t>DeepVision</a:t>
            </a:r>
            <a:r>
              <a:rPr sz="4000" dirty="0"/>
              <a:t>深瞳</a:t>
            </a:r>
            <a:endParaRPr sz="40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66165" y="3678555"/>
            <a:ext cx="9930130" cy="1011555"/>
          </a:xfrm>
        </p:spPr>
        <p:txBody>
          <a:bodyPr/>
          <a:lstStyle/>
          <a:p>
            <a:pPr algn="r" fontAlgn="auto">
              <a:spcBef>
                <a:spcPts val="600"/>
              </a:spcBef>
            </a:pPr>
            <a:r>
              <a:rPr lang="zh-CN" altLang="en-US"/>
              <a:t>项目经理：何海</a:t>
            </a:r>
            <a:endParaRPr lang="en-US" altLang="zh-CN"/>
          </a:p>
          <a:p>
            <a:pPr algn="r" fontAlgn="auto">
              <a:spcBef>
                <a:spcPts val="600"/>
              </a:spcBef>
            </a:pPr>
            <a:r>
              <a:rPr lang="en-US" altLang="zh-CN" dirty="0"/>
              <a:t>     2026 </a:t>
            </a:r>
            <a:r>
              <a:rPr lang="zh-CN" altLang="en-US" dirty="0"/>
              <a:t>年</a:t>
            </a:r>
            <a:r>
              <a:rPr lang="en-US" altLang="zh-CN" dirty="0"/>
              <a:t> 3 </a:t>
            </a:r>
            <a:r>
              <a:rPr lang="zh-CN" altLang="en-US" dirty="0"/>
              <a:t>月</a:t>
            </a:r>
            <a:r>
              <a:rPr lang="en-US" altLang="zh-CN" dirty="0"/>
              <a:t> 17 </a:t>
            </a:r>
            <a:r>
              <a:rPr lang="zh-CN" altLang="en-US" dirty="0"/>
              <a:t>日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cut/>
      </p:transition>
    </mc:Choice>
    <mc:Fallback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7070" y="258354"/>
            <a:ext cx="9144000" cy="636361"/>
          </a:xfrm>
        </p:spPr>
        <p:txBody>
          <a:bodyPr/>
          <a:lstStyle/>
          <a:p>
            <a:r>
              <a:rPr lang="zh-CN" altLang="en-US" sz="3200" dirty="0"/>
              <a:t>应用场景及核心需求（痛点）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7070" y="258354"/>
            <a:ext cx="9144000" cy="636361"/>
          </a:xfrm>
        </p:spPr>
        <p:txBody>
          <a:bodyPr/>
          <a:lstStyle/>
          <a:p>
            <a:r>
              <a:rPr lang="zh-CN" altLang="en-US" sz="3200" dirty="0"/>
              <a:t>应用效果及核心界面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7070" y="258354"/>
            <a:ext cx="9144000" cy="636361"/>
          </a:xfrm>
        </p:spPr>
        <p:txBody>
          <a:bodyPr/>
          <a:lstStyle/>
          <a:p>
            <a:r>
              <a:rPr lang="zh-CN" altLang="en-US" sz="3200" dirty="0"/>
              <a:t>技术实现思路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7070" y="277404"/>
            <a:ext cx="9144000" cy="636361"/>
          </a:xfrm>
        </p:spPr>
        <p:txBody>
          <a:bodyPr/>
          <a:lstStyle/>
          <a:p>
            <a:r>
              <a:rPr lang="zh-CN" altLang="en-US" sz="3200" dirty="0">
                <a:sym typeface="+mn-ea"/>
              </a:rPr>
              <a:t>工作</a:t>
            </a:r>
            <a:r>
              <a:rPr sz="3200" dirty="0">
                <a:sym typeface="+mn-ea"/>
              </a:rPr>
              <a:t>计划</a:t>
            </a:r>
            <a:endParaRPr lang="en-US" altLang="zh-CN" sz="3200" dirty="0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7070" y="277404"/>
            <a:ext cx="9144000" cy="636361"/>
          </a:xfrm>
        </p:spPr>
        <p:txBody>
          <a:bodyPr/>
          <a:lstStyle/>
          <a:p>
            <a:r>
              <a:rPr lang="zh-CN" altLang="en-US" sz="3200" dirty="0">
                <a:sym typeface="+mn-ea"/>
              </a:rPr>
              <a:t>问题或关注点</a:t>
            </a:r>
            <a:endParaRPr lang="en-US" altLang="zh-CN" sz="3200" dirty="0"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UNIT_PLACING_PICTURE_USER_VIEWPORT" val="{&quot;height&quot;:679,&quot;width&quot;:741}"/>
</p:tagLst>
</file>

<file path=ppt/tags/tag6.xml><?xml version="1.0" encoding="utf-8"?>
<p:tagLst xmlns:p="http://schemas.openxmlformats.org/presentationml/2006/main">
  <p:tag name="KSO_WM_UNIT_PLACING_PICTURE_USER_VIEWPORT" val="{&quot;height&quot;:679,&quot;width&quot;:741}"/>
</p:tagLst>
</file>

<file path=ppt/tags/tag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48f0323f555970c2f467704a0a08424f797264d"/>
  <p:tag name="KSO_WM_NEWLAYOUT_GROUP_ID" val="layout_14"/>
  <p:tag name="KSO_WM_NEWLAYOUT_ID" val="slide_fbd1737be693ef9a"/>
</p:tagLst>
</file>

<file path=ppt/tags/tag8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1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2f7625da23d083b107d3df14a870d8089295d16"/>
  <p:tag name="KSO_WM_NEWLAYOUT_GROUP_ID" val="layout_10012"/>
  <p:tag name="KSO_WM_NEWLAYOUT_ID" val="slide_ed19c0db6ed585c4"/>
</p:tagLst>
</file>

<file path=ppt/tags/tag1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8.xml><?xml version="1.0" encoding="utf-8"?>
<p:tagLst xmlns:p="http://schemas.openxmlformats.org/presentationml/2006/main">
  <p:tag name="KSO_WM_UNIT_PLACING_PICTURE_USER_VIEWPORT" val="{&quot;height&quot;:924,&quot;width&quot;:2397}"/>
</p:tagLst>
</file>

<file path=ppt/tags/tag19.xml><?xml version="1.0" encoding="utf-8"?>
<p:tagLst xmlns:p="http://schemas.openxmlformats.org/presentationml/2006/main">
  <p:tag name="KSO_WM_UNIT_PLACING_PICTURE_USER_VIEWPORT" val="{&quot;height&quot;:679,&quot;width&quot;:741}"/>
</p:tagLst>
</file>

<file path=ppt/tags/tag20.xml><?xml version="1.0" encoding="utf-8"?>
<p:tagLst xmlns:p="http://schemas.openxmlformats.org/presentationml/2006/main">
  <p:tag name="KSO_WM_UNIT_PLACING_PICTURE_USER_VIEWPORT" val="{&quot;height&quot;:679,&quot;width&quot;:741}"/>
</p:tagLst>
</file>

<file path=ppt/tags/tag21.xml><?xml version="1.0" encoding="utf-8"?>
<p:tagLst xmlns:p="http://schemas.openxmlformats.org/presentationml/2006/main">
  <p:tag name="RESOURCE_RECORD_KEY" val="{&quot;29&quot;:[50052409,50052433,50000283]}"/>
</p:tagLst>
</file>

<file path=ppt/theme/theme1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MSoft">
      <a:majorFont>
        <a:latin typeface="Arial Black"/>
        <a:ea typeface="微软雅黑 Light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KMSoft模板白底2024V1</Template>
  <TotalTime>0</TotalTime>
  <Words>77</Words>
  <Application>WPS 演示</Application>
  <PresentationFormat>宽屏</PresentationFormat>
  <Paragraphs>15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微软雅黑</vt:lpstr>
      <vt:lpstr>汉仪旗黑</vt:lpstr>
      <vt:lpstr>微软雅黑</vt:lpstr>
      <vt:lpstr>宋体</vt:lpstr>
      <vt:lpstr>Arial Unicode MS</vt:lpstr>
      <vt:lpstr>等线</vt:lpstr>
      <vt:lpstr>汉仪中等线KW</vt:lpstr>
      <vt:lpstr>Calibri</vt:lpstr>
      <vt:lpstr>Helvetica Neue</vt:lpstr>
      <vt:lpstr>汉仪书宋二KW</vt:lpstr>
      <vt:lpstr>3_自定义设计方案</vt:lpstr>
      <vt:lpstr>项目名称</vt:lpstr>
      <vt:lpstr>应用场景及核心需求（痛点）</vt:lpstr>
      <vt:lpstr>应用效果及核心界面</vt:lpstr>
      <vt:lpstr>技术实现思路</vt:lpstr>
      <vt:lpstr>工作计划</vt:lpstr>
      <vt:lpstr>问题或关注点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2025产品年度规划报告 -- XXX产品</dc:title>
  <dc:creator>Administrator</dc:creator>
  <cp:lastModifiedBy>何海</cp:lastModifiedBy>
  <cp:revision>216</cp:revision>
  <dcterms:created xsi:type="dcterms:W3CDTF">2026-03-17T07:02:51Z</dcterms:created>
  <dcterms:modified xsi:type="dcterms:W3CDTF">2026-03-17T07:02:51Z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260DC1E636EE4B96B405A125D18155A4_13</vt:lpwstr>
  </property>
</Properties>
</file>